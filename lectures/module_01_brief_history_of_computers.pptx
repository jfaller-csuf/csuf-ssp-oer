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2"/>
    <p:sldId id="378" r:id="rId3"/>
    <p:sldId id="379" r:id="rId4"/>
    <p:sldId id="380" r:id="rId5"/>
    <p:sldId id="381" r:id="rId6"/>
    <p:sldId id="382" r:id="rId7"/>
    <p:sldId id="383" r:id="rId8"/>
    <p:sldId id="384" r:id="rId9"/>
    <p:sldId id="385" r:id="rId10"/>
    <p:sldId id="386" r:id="rId11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9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Tuesday, February 10,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Tuesday, February 10,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9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119619"/>
            <a:ext cx="9143446" cy="1644603"/>
          </a:xfrm>
        </p:spPr>
        <p:txBody>
          <a:bodyPr lIns="0" tIns="0" rIns="0" bIns="0" anchor="b">
            <a:normAutofit/>
          </a:bodyPr>
          <a:lstStyle>
            <a:lvl1pPr algn="ctr">
              <a:lnSpc>
                <a:spcPct val="100000"/>
              </a:lnSpc>
              <a:defRPr sz="3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177905"/>
            <a:ext cx="9143446" cy="1474521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633952"/>
            <a:ext cx="9143446" cy="581025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282A0C-AE70-F90A-1C3A-41019DB55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69538" y="720925"/>
            <a:ext cx="2654302" cy="2949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BA3CA8-4426-4FAB-ACAE-BDC78CBA3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050A0-2597-47B0-B2A9-222CDA3D1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9133E-026C-4BC8-8628-6A86DFEF3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F6FFAC0-AF93-4170-85DE-24B48BA5BE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9763-7D65-429F-BD59-75DBFB945B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11269766" cy="435893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 sz="28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280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2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2800">
                <a:solidFill>
                  <a:schemeClr val="tx2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0B26-DCBA-41F6-B791-F51413EC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47AD375C-0981-EAD1-40D6-C1E06F8C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A6B4D7EF-C9F8-3DA0-05D5-FC74F20B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42-C647-41FB-9068-CDEDA3581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199"/>
            <a:ext cx="7434366" cy="13716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8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C1A5-3969-44EB-8F46-5E7473A805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2057400"/>
            <a:ext cx="7434366" cy="403225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content (Paste Special – Unformatted Text).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1C3BE-B545-33FB-C631-A328427E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0DFEB-47D6-6DF6-B70A-457EB4023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1BDB93-2D43-31ED-9DBD-6CBBFB9FE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98C910C-E2C5-B46A-E5EA-C13AE923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A09A87-DADE-FD4E-2100-98AA215384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850DAB-085C-D134-5B64-056E493697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0" y="137158"/>
            <a:ext cx="3606800" cy="6263642"/>
          </a:xfrm>
        </p:spPr>
        <p:txBody>
          <a:bodyPr anchor="t"/>
          <a:lstStyle>
            <a:lvl1pPr marL="0" indent="0" algn="l">
              <a:buFont typeface="+mj-lt"/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B5CBC9-7473-C7A0-F53B-C46F012E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1E7F9-98B9-9C4C-825A-FCCE858F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A3EAC-2CBF-F14E-0A50-B2D8FB7A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1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4443598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4443598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AFD5D8-BC9E-7745-7FB5-D1782F99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3AFD25-113A-0974-A2A5-67196CCF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96A8C-E821-A6A4-A8AE-DAEF8298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5167-48D8-484C-995D-B70E4EF07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1933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5C63C-D34B-FE98-F248-679B7CA7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9832-4F57-EFBB-EDE1-5629E4E25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5AA708-0BF2-24B3-26F2-29981F321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B085E5-28FF-2098-78AD-3E86D65A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F29EF-FC77-9966-5F68-A9E0FB4D7A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DAD6ADA-5D62-344E-7910-E0B9AE42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8D2E-2114-DF81-6F90-96E71DF2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F122-BE1F-7021-BEFC-C1B2EBE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3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DAC-5D95-4CAE-B000-01F3BCC785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06800" cy="130201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4A82-3A44-4F74-9656-A7FA2B6C27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2600" y="457201"/>
            <a:ext cx="7434366" cy="5403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on six (6) icons below or add text content here (Paste Special – Unformatted </a:t>
            </a:r>
            <a:r>
              <a:rPr lang="en-US" dirty="0" err="1"/>
              <a:t>ext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14B6-91FA-4C49-A8C8-8AF2A5F19E7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987812"/>
            <a:ext cx="3606800" cy="3881176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84554-3079-F08F-71BB-060A7D5D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0FAF0-FB41-72EE-F3B0-6D6A674C1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E938BF7-0154-1DFC-7BA2-A1AAD69B7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F35A61-BCCA-196E-6EAF-76B210056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3226D-B66F-CF2B-2196-1425CB8ADEA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340639-B338-6C6A-C40D-9DAFD482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D3F9127-B09C-E7BD-DA0C-7F58890C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A19CF86-EEE3-0502-4E9D-E35CF2D7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8F79-451A-4009-9133-D541041AE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4557816" cy="132296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CE3D4-DB93-438D-9D02-ECFECC921D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51450" y="457201"/>
            <a:ext cx="6475516" cy="54038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icon to add picture.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6080E-7679-4AFC-988F-314BB28E7AE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5034" y="2016698"/>
            <a:ext cx="4557816" cy="38522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24662-55E4-6C20-ECBD-48A9EACE8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62719-D189-53F1-1439-7AC46BC48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247D8EA-2955-A48F-6253-7F09612C6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B1138D-14E6-6D05-1845-93D4CE9E3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59D944-FF87-407C-4F17-23B6D4797F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A6DEDB-C233-8B9C-974B-9905C06B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AC5AF8C-A25D-B007-8476-CE8581EB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2E88B5-AAAD-1CE3-3D34-1A6D2296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2C78-FBC6-4C35-9052-2895C15C8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457200"/>
            <a:ext cx="9372600" cy="12334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A02A-1CE4-48D0-88C1-01F73CCCBD5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FCD77-8602-7D41-8B9A-91D5D286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7A3BF-CF20-3A41-88F9-23CFD85E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A06B363-B32C-B094-3427-F82BD0D83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B728A9C-9FB6-0C76-EB1D-1206A347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1F503B-1E5A-06CE-17DB-1F7E05A195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BE8134-D42C-4177-E261-9A045BA5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22CF19-1B2D-BD22-5095-D90D9A2D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8F9D8D-924F-7F30-E920-15549695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A1871-E3DC-4D86-AB8F-F86507E69AA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045700" y="457199"/>
            <a:ext cx="1681266" cy="5719763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42906-3002-4C4B-B23A-55CDF75EE2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5034" y="457199"/>
            <a:ext cx="9352066" cy="571976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0B034-0076-53DB-8382-394D354D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68DC6-04BA-3226-24E2-C62185DC8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40ADF9-C347-7064-EC60-A3D0FDC3B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CB2B9F-859C-F5E7-4E33-3B5A2DBAC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6559A6-DAE2-398E-B680-FB2906C269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A55691-BBCE-8076-B691-B5E94E55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15BE92-3A99-0373-D539-0B576AE2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C37446-79FB-572C-7DCB-0CD811A1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3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C3919-549F-F494-1E48-FD7186AFC6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6525"/>
            <a:ext cx="12192000" cy="62642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FB6F98-60FB-F02E-D996-6BDFC47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613E0-60FF-15CE-4F46-1BF54A34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ED0E2D-2479-F2D1-2CBD-72AE1290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49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457200"/>
            <a:ext cx="3606800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2857C626-DF9D-E7AB-3AFA-05345F21F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6743" y="457199"/>
            <a:ext cx="2675557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5500" y="457199"/>
            <a:ext cx="4559300" cy="5596358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4FF787-DC80-3156-D3BD-019FBF50A8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5033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FA82F61-AF57-E84A-750C-45638A2196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85494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D986500E-3699-D3B6-3DA3-B0299ABE50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439" y="4353339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D8792BD5-F572-13A0-BA6C-BCB139EF9F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74900" y="4353338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63577AAA-8D0D-60BB-5F18-56705AE3B7D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0117" y="2454274"/>
            <a:ext cx="2682183" cy="3599283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608273-8F15-BEF6-D0A4-45FCC423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D546E59-2FA9-0BAD-FCA6-A890382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7DA3D65-0672-4492-51B0-37F283A8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94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561975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19750" y="137158"/>
            <a:ext cx="6572250" cy="6263642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D0C482-8E97-9661-A2FE-6F945FB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924023-DC84-EA06-8EF6-F504B5A6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22EB88-C5EC-E0A5-377A-92D98D97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3111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B985741E-0695-2E3E-97A1-5EFA37AD05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1500" y="135756"/>
            <a:ext cx="3098799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9B6E876-DAE9-4045-ED49-71E5F90B14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0300" y="135756"/>
            <a:ext cx="31242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9703F14-6248-3D37-81B7-D2A41BA31A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135756"/>
            <a:ext cx="2857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EBB35F-0F93-1F0D-D4F4-FB9C648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9DEA1D0-5FB2-2C63-4E09-09E2322E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3D2DFDC-39C9-F066-5E0B-C4D8D34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68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1503" y="243929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6103" y="2439296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806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60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40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BD03EAD9-8192-0A40-EC71-9930F76C86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500" y="2455095"/>
            <a:ext cx="2295793" cy="2849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5374" y="245900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5168" y="2439110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15078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41617" y="1739448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2770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5284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61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660F1517-FC1F-8F5E-2904-D9677FD60D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7955" y="2441448"/>
            <a:ext cx="1023620" cy="2834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38138DF-C38E-BA90-AF76-973AEE9550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642" y="2441448"/>
            <a:ext cx="1023620" cy="28346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2FDB2AD-74BE-CF30-463A-485927801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3465" y="2441448"/>
            <a:ext cx="1023620" cy="2834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0C03EA6-4030-9A84-B8D8-4DF99E7F27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0200" y="2441448"/>
            <a:ext cx="1023620" cy="2834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8812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8363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37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3588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4DCBA207-2BE8-4691-9DD3-4E6135E1C2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31389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39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162E8-B29C-AC64-05DB-717CC5D7B501}"/>
              </a:ext>
            </a:extLst>
          </p:cNvPr>
          <p:cNvSpPr/>
          <p:nvPr userDrawn="1"/>
        </p:nvSpPr>
        <p:spPr>
          <a:xfrm>
            <a:off x="465033" y="457200"/>
            <a:ext cx="5516667" cy="5581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AF46-57A7-26B6-1F11-79C97BC97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5516668" cy="99441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DFB476-43CE-0ED5-7CC2-A2BE56903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50216" y="1472908"/>
            <a:ext cx="2146300" cy="2009775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1C30D1D-B94F-85B3-97D0-5DC307721D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5086350"/>
            <a:ext cx="5524498" cy="952499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contact information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1202D5C-2479-42DD-8C1C-23D5587484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299" y="457200"/>
            <a:ext cx="5524501" cy="5581650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939C9F5-97BE-3396-5707-F78FD1813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3503981"/>
            <a:ext cx="5508625" cy="711939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4F3DA48-53E5-4844-128B-2607ED2A13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032" y="4215921"/>
            <a:ext cx="5508625" cy="87042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07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5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8C0686-F729-4944-A511-B79A73262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Module 1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8C35E51-0114-4E6B-9ABF-A29902909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4966" y="3809999"/>
            <a:ext cx="9143446" cy="2141913"/>
          </a:xfrm>
        </p:spPr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5F5578-B9E8-F09B-C5B5-A7EA7B41D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23C9-6A7E-DE01-963B-16726FE7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A1A84-F219-FAFE-2943-7EBD4FDE8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Computers invented over half a century ago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First designed and created as a part of WWII technology effort in the US and Europe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General belief at the time: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Useful for big institutions and companies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Not useful for personal use</a:t>
            </a:r>
          </a:p>
        </p:txBody>
      </p:sp>
    </p:spTree>
    <p:extLst>
      <p:ext uri="{BB962C8B-B14F-4D97-AF65-F5344CB8AC3E}">
        <p14:creationId xmlns:p14="http://schemas.microsoft.com/office/powerpoint/2010/main" val="344385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513C-A54E-9801-215F-BEFD6B14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70A0-9F18-A024-FF7A-75C8AAC2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9465C-E3B3-75BF-65CB-09F108208A7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2466" y="1600200"/>
            <a:ext cx="5524500" cy="4684059"/>
          </a:xfrm>
        </p:spPr>
        <p:txBody>
          <a:bodyPr/>
          <a:lstStyle/>
          <a:p>
            <a:r>
              <a:rPr lang="en-US" sz="3200" b="1" dirty="0"/>
              <a:t>Abacus</a:t>
            </a:r>
            <a:r>
              <a:rPr lang="en-US" sz="3200" dirty="0"/>
              <a:t> – invented in China around 500 BC</a:t>
            </a:r>
          </a:p>
          <a:p>
            <a:r>
              <a:rPr lang="en-US" sz="3200" dirty="0"/>
              <a:t>First device to perform mathematical computation like computers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3D6E35B-42A2-DDF7-A3F7-DD27DA96B61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4" y="1600199"/>
            <a:ext cx="5341280" cy="420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850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7D9E9-E7FE-71A8-8075-C1F2832E5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11F9-40CA-CB28-E359-80050F3EA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302F-2E58-6C3A-6E13-F3BD38F1E5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2466" y="1600200"/>
            <a:ext cx="5524500" cy="4684059"/>
          </a:xfrm>
        </p:spPr>
        <p:txBody>
          <a:bodyPr/>
          <a:lstStyle/>
          <a:p>
            <a:r>
              <a:rPr lang="en-US" sz="2400" dirty="0"/>
              <a:t>Blaise Pascal</a:t>
            </a:r>
          </a:p>
          <a:p>
            <a:r>
              <a:rPr lang="en-US" sz="2400" dirty="0"/>
              <a:t>French mathematician and physicist</a:t>
            </a:r>
          </a:p>
          <a:p>
            <a:r>
              <a:rPr lang="en-US" sz="2400" dirty="0"/>
              <a:t>Created the first adder and subtractor in 1642</a:t>
            </a:r>
            <a:endParaRPr lang="en-US" dirty="0"/>
          </a:p>
          <a:p>
            <a:r>
              <a:rPr lang="en-US" sz="2400" dirty="0"/>
              <a:t>Influenced the development of other mechanical computers</a:t>
            </a:r>
          </a:p>
          <a:p>
            <a:r>
              <a:rPr lang="en-US" sz="2400" dirty="0"/>
              <a:t>Babbage’s mechanical computer</a:t>
            </a:r>
          </a:p>
          <a:p>
            <a:r>
              <a:rPr lang="en-US" sz="2400" dirty="0" err="1"/>
              <a:t>Zuse’s</a:t>
            </a:r>
            <a:r>
              <a:rPr lang="en-US" sz="2400" dirty="0"/>
              <a:t> mechanical relay computer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A2E2766-BE9D-D832-219C-686C3B3BF3E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4" y="1600200"/>
            <a:ext cx="5337029" cy="279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42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3258E-CA35-5688-A3D9-14C57185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D655C-B008-3D73-A16C-30BAEB1A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5DE66-AF33-C7DE-492D-1DE382D6222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2466" y="1600200"/>
            <a:ext cx="5524500" cy="4684059"/>
          </a:xfrm>
        </p:spPr>
        <p:txBody>
          <a:bodyPr/>
          <a:lstStyle/>
          <a:p>
            <a:r>
              <a:rPr lang="en-US" sz="2400" dirty="0"/>
              <a:t>1940s: Relay memories invented</a:t>
            </a:r>
          </a:p>
          <a:p>
            <a:r>
              <a:rPr lang="en-US" sz="2400" dirty="0"/>
              <a:t>1950s: Electronic Numerical Integrator and Computer (ENIAC)</a:t>
            </a:r>
          </a:p>
          <a:p>
            <a:pPr lvl="1"/>
            <a:r>
              <a:rPr lang="en-US" sz="2400" dirty="0"/>
              <a:t>Combined relay mems with vacuum tubes</a:t>
            </a:r>
          </a:p>
          <a:p>
            <a:pPr lvl="1"/>
            <a:r>
              <a:rPr lang="en-US" sz="2400" dirty="0"/>
              <a:t>Enormous: several feet wide x 8 feet high</a:t>
            </a:r>
          </a:p>
          <a:p>
            <a:pPr lvl="1"/>
            <a:r>
              <a:rPr lang="en-US" sz="2400" dirty="0"/>
              <a:t>No programming language!!!</a:t>
            </a:r>
          </a:p>
          <a:p>
            <a:pPr lvl="1"/>
            <a:r>
              <a:rPr lang="en-US" sz="2400" dirty="0"/>
              <a:t>Programmed with cables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1D21060-D47A-E448-7281-D86A14C19FD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5524500" cy="4218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645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71752-05D2-0E05-7C67-377E54DD5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6DBF-387E-A8C8-6DB8-C00A4D56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61051-0712-584E-53AE-820C788F643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2466" y="1600200"/>
            <a:ext cx="5524500" cy="4684059"/>
          </a:xfrm>
        </p:spPr>
        <p:txBody>
          <a:bodyPr/>
          <a:lstStyle/>
          <a:p>
            <a:r>
              <a:rPr lang="en-US" sz="2400" dirty="0"/>
              <a:t>1944: Mark I</a:t>
            </a:r>
          </a:p>
          <a:p>
            <a:pPr lvl="1"/>
            <a:r>
              <a:rPr lang="en-US" sz="2400" dirty="0"/>
              <a:t>First electromechanical decimal computer</a:t>
            </a:r>
          </a:p>
          <a:p>
            <a:pPr lvl="1"/>
            <a:r>
              <a:rPr lang="en-US" sz="2400" dirty="0"/>
              <a:t>Designed and created by Howard Aiken of Harvard University</a:t>
            </a:r>
          </a:p>
          <a:p>
            <a:pPr lvl="1"/>
            <a:r>
              <a:rPr lang="en-US" sz="2400" dirty="0"/>
              <a:t>Sponsored by IBM</a:t>
            </a:r>
          </a:p>
          <a:p>
            <a:pPr lvl="1"/>
            <a:r>
              <a:rPr lang="en-US" sz="2400" dirty="0"/>
              <a:t>Showed benefits of computers</a:t>
            </a:r>
          </a:p>
          <a:p>
            <a:pPr lvl="1"/>
            <a:r>
              <a:rPr lang="en-US" sz="2400" dirty="0"/>
              <a:t>Increased interest in computers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93921ED-06EA-15E9-3A6E-853F73A9221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4" y="1600200"/>
            <a:ext cx="5248856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11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E2A4-9A87-A9F6-91E6-3B0BD908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5EC59-375D-624C-C7C3-43937F58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35AF5-3204-8784-223B-B462ADBF8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1948: Invention of analog transistors at Bell Labs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1950s: Invention of discrete transistors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Accelerated the start of companies such as IBM, RCA, Honeywell, and UNIVAC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Mainly used by government and large business firms</a:t>
            </a:r>
          </a:p>
        </p:txBody>
      </p:sp>
    </p:spTree>
    <p:extLst>
      <p:ext uri="{BB962C8B-B14F-4D97-AF65-F5344CB8AC3E}">
        <p14:creationId xmlns:p14="http://schemas.microsoft.com/office/powerpoint/2010/main" val="184973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45B5-EE72-3064-FDCF-E13740AA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FA6A-825F-BBDB-91B0-BCE4EE2B7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E1C2F-BFD6-F0D3-E970-6893CBCC4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1960s: Large-Scale Integrated (LSI) and Very Large-Scale Integrated (VLSI) devices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Engineers began cramming transistors in a single chip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Moore’s Law - double the number of transistors on a chip every ~2 years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1970s: advancement of semiconductors and demand spurred two types of computers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General-Purpose Computers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Embedded Computers (a.k.a., microcontrollers)</a:t>
            </a:r>
          </a:p>
        </p:txBody>
      </p:sp>
    </p:spTree>
    <p:extLst>
      <p:ext uri="{BB962C8B-B14F-4D97-AF65-F5344CB8AC3E}">
        <p14:creationId xmlns:p14="http://schemas.microsoft.com/office/powerpoint/2010/main" val="2637964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E5549-953C-8184-04D3-46748C00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7C70-2CF1-D513-BCAA-4724DAF2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D9E21-D63B-B1A8-ECF4-D8BB650FF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General-Purpose Computers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Personal Computers (PCs)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Routers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Servers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Can accommodate a variety of programs and execute them quickly</a:t>
            </a:r>
          </a:p>
        </p:txBody>
      </p:sp>
    </p:spTree>
    <p:extLst>
      <p:ext uri="{BB962C8B-B14F-4D97-AF65-F5344CB8AC3E}">
        <p14:creationId xmlns:p14="http://schemas.microsoft.com/office/powerpoint/2010/main" val="2795999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13B4-799F-50B6-8858-AE21EB9F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4B99-B476-D97E-EF5C-C034F6E9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Brief History of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75B08-5FAC-37A7-F665-BF411A142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7106"/>
            <a:ext cx="11269766" cy="435893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800" dirty="0"/>
              <a:t>Microcontrollers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In the 1970s, automobile industry began adding computers to cars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Auto industry heavily influenced the initial design of microcontrollers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Didn’t require “bells and whistles” or the speed of the general-purpose computers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Contains all necessary parts of computer on a single chip including memory and I/O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2800" dirty="0"/>
              <a:t>Sales of microcontrollers far greater than general-purpose computers</a:t>
            </a:r>
          </a:p>
        </p:txBody>
      </p:sp>
    </p:spTree>
    <p:extLst>
      <p:ext uri="{BB962C8B-B14F-4D97-AF65-F5344CB8AC3E}">
        <p14:creationId xmlns:p14="http://schemas.microsoft.com/office/powerpoint/2010/main" val="156882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5FE1AB7-F0CD-4A8B-BFA9-0AD7945DB4A0}" vid="{BBCA1856-BC87-4357-9E72-ED06542CDF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CSUF-PPT-6-A</Template>
  <TotalTime>253</TotalTime>
  <Words>370</Words>
  <Application>Microsoft Office PowerPoint</Application>
  <PresentationFormat>Widescreen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Module 1</vt:lpstr>
      <vt:lpstr>Brief History of Computers</vt:lpstr>
      <vt:lpstr>Brief History of Computers</vt:lpstr>
      <vt:lpstr>Brief History of Computers</vt:lpstr>
      <vt:lpstr>Brief History of Computers</vt:lpstr>
      <vt:lpstr>Brief History of Computers</vt:lpstr>
      <vt:lpstr>Brief History of Computers</vt:lpstr>
      <vt:lpstr>Brief History of Computers</vt:lpstr>
      <vt:lpstr>Brief History of Computers</vt:lpstr>
      <vt:lpstr>Brief History of Computers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Faller, John (Kenneth)</dc:creator>
  <cp:lastModifiedBy>Faller, John (Kenneth)</cp:lastModifiedBy>
  <cp:revision>107</cp:revision>
  <cp:lastPrinted>2023-01-31T22:42:47Z</cp:lastPrinted>
  <dcterms:created xsi:type="dcterms:W3CDTF">2024-12-31T21:42:59Z</dcterms:created>
  <dcterms:modified xsi:type="dcterms:W3CDTF">2026-02-10T22:29:28Z</dcterms:modified>
</cp:coreProperties>
</file>